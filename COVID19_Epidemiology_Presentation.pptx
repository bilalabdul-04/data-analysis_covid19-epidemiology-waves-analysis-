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Exploratory Data Analysis of the COVID-19 Pandemic in the EU/EEA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2743200" cy="3657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6A69A"/>
                </a:solidFill>
                <a:latin typeface="Calibri"/>
              </a:defRPr>
            </a:pPr>
            <a:r>
              <a:t>Intelligent Data Analysis (DV1597) — Assignment 2</a:t>
            </a:r>
          </a:p>
          <a:p>
            <a:br/>
            <a:pPr>
              <a:defRPr sz="1400">
                <a:solidFill>
                  <a:srgbClr val="BDC3C7"/>
                </a:solidFill>
                <a:latin typeface="Calibri"/>
              </a:defRPr>
            </a:pPr>
            <a:r>
              <a:t>Academic Group Presentation  |  Blekinge Institute of Technology (BTH)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Calibri"/>
              </a:defRPr>
            </a:pPr>
            <a:r>
              <a:t>Motivation &amp; Analytical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9144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defRPr sz="1100">
                <a:solidFill>
                  <a:srgbClr val="7F8C8D"/>
                </a:solidFill>
                <a:latin typeface="Calibri"/>
              </a:defRPr>
            </a:pPr>
            <a:r>
              <a:t>Intelligent Data Analysis (DV1597) | Assignment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Why Python &amp; Standard Data Science Stack?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Reproducible Pipelines: </a:t>
            </a:r>
            <a:r>
              <a:rPr b="0"/>
              <a:t>Every clean, aggregation, and mathematical rank calculation is script-driven, avoiding fragile manual spreadsheet actions.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Pandas &amp; NumPy: </a:t>
            </a:r>
            <a:r>
              <a:rPr b="0"/>
              <a:t>Provides efficient high-performance indexing for handling millions of row combinations across multi-gigabyte datasets.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Matplotlib &amp; Seaborn: </a:t>
            </a:r>
            <a:r>
              <a:rPr b="0"/>
              <a:t>Enables highly optimized, vector-grade static visualizations. Eliminates heavy system dependencies (like GIS shapefile tools) to ensure cross-platform compatibility.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ECDC Public Health Database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1. Cases &amp; Deaths: </a:t>
            </a:r>
            <a:r>
              <a:rPr b="0"/>
              <a:t>Tracking daily new cases and mortality numbers from 2020 through 2022 across the EU/EEA.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2. Vaccination Dataset: </a:t>
            </a:r>
            <a:r>
              <a:rPr b="0"/>
              <a:t>Granular cohort-level vaccine tracking containing brand doses, age breakdowns, and key demographics.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3. Hospital &amp; Clinical Burden: </a:t>
            </a:r>
            <a:r>
              <a:rPr b="0"/>
              <a:t>Daily and weekly occupancies and admissions for general hospital wards and Intensive Care Units (ICUs).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Calibri"/>
              </a:defRPr>
            </a:pPr>
            <a:r>
              <a:t>Core Pre-processing &amp; Quarterly Cases (Q1)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9144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defRPr sz="1100">
                <a:solidFill>
                  <a:srgbClr val="7F8C8D"/>
                </a:solidFill>
                <a:latin typeface="Calibri"/>
              </a:defRPr>
            </a:pPr>
            <a:r>
              <a:t>Intelligent Data Analysis (DV1597) | Assignment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Pre-processing &amp; Deduplication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NUTS-2 Deduplication: </a:t>
            </a:r>
            <a:r>
              <a:rPr b="0"/>
              <a:t>Filtered 'Region == ReportingCountry' in vaccination dataset to prevent double-counting subnational regional rows.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Unified Mapping: </a:t>
            </a:r>
            <a:r>
              <a:rPr b="0"/>
              <a:t>Mapped all country spelling differences ('Czech Republic' -&gt; 'CZ', 'Greece' -&gt; 'EL') to standard ISO 2-letter codes.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Dynamic Age Fallback: </a:t>
            </a:r>
            <a:r>
              <a:rPr b="0"/>
              <a:t>Created age aggregation fallbacks for countries like Germany that omitted granular age cohorts.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Q1 Cases Trends: </a:t>
            </a:r>
            <a:r>
              <a:rPr b="0"/>
              <a:t>Identified the top 10 countries. Cases peaked in Q1 2022 across Western Europe (DE, FR, IT) due to Omicron emergence.</a:t>
            </a:r>
          </a:p>
        </p:txBody>
      </p:sp>
      <p:pic>
        <p:nvPicPr>
          <p:cNvPr id="7" name="Picture 6" descr="q1_quarterly_cases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6126480" cy="33185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Calibri"/>
              </a:defRPr>
            </a:pPr>
            <a:r>
              <a:t>Results: Spatio-Temporal Distribution Maps (Q2)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9144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defRPr sz="1100">
                <a:solidFill>
                  <a:srgbClr val="7F8C8D"/>
                </a:solidFill>
                <a:latin typeface="Calibri"/>
              </a:defRPr>
            </a:pPr>
            <a:r>
              <a:t>Intelligent Data Analysis (DV1597) | Assignment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Mapping Europe geographically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Coordinate Projection: </a:t>
            </a:r>
            <a:r>
              <a:rPr b="0"/>
              <a:t>Plotted country cases and deaths using actual Latitude (°N) and Longitude (°E) coordinate points.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Stylized Geographical Map: </a:t>
            </a:r>
            <a:r>
              <a:rPr b="0"/>
              <a:t>Allows clear spatial comparison of pandemic intensity directly on a Matplotlib axis without heavy shapefile libraries.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Bubble size &amp; shade: </a:t>
            </a:r>
            <a:r>
              <a:rPr b="0"/>
              <a:t>Size and shade instantly convey intensity. Darker, larger blue/red circles indicate high clinical case and mortality loads.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Temporal movement: </a:t>
            </a:r>
            <a:r>
              <a:rPr b="0"/>
              <a:t>Visually demonstrates infection waves expanding from concentrated hotspots (2020) to full continental coverage (2022).</a:t>
            </a:r>
          </a:p>
        </p:txBody>
      </p:sp>
      <p:pic>
        <p:nvPicPr>
          <p:cNvPr id="7" name="Picture 6" descr="q2_spatial_bubble_map_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68580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Calibri"/>
              </a:defRPr>
            </a:pPr>
            <a:r>
              <a:t>Results: Vaccine Brand Portfolios &amp; Demographics (Q3, Q4)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9144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defRPr sz="1100">
                <a:solidFill>
                  <a:srgbClr val="7F8C8D"/>
                </a:solidFill>
                <a:latin typeface="Calibri"/>
              </a:defRPr>
            </a:pPr>
            <a:r>
              <a:t>Intelligent Data Analysis (DV1597) | Assignment 2</a:t>
            </a:r>
          </a:p>
        </p:txBody>
      </p:sp>
      <p:pic>
        <p:nvPicPr>
          <p:cNvPr id="6" name="Picture 5" descr="q3_vaccine_br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03520" cy="3447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Q3: Overall Brand Dominance &amp; Exceptions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• Pfizer (Comirnaty) is dominant overall at 60.3% share.</a:t>
            </a:r>
            <a:br/>
            <a:r>
              <a:t>• Liechtenstein (LI) is a major brand exception, procuring Moderna (Spikevax) as primary (65.5%).</a:t>
            </a:r>
            <a:br/>
            <a:r>
              <a:t>• Germany is a database exception, reporting 100% as 'Unknown' (UNK).</a:t>
            </a:r>
          </a:p>
        </p:txBody>
      </p:sp>
      <p:pic>
        <p:nvPicPr>
          <p:cNvPr id="8" name="Picture 7" descr="q4_vaccine_brand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94960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120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Q4: Brand Allocations by Demographic Target Group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• Pfizer and Moderna doses were heavily allocated to older groups (Age60+) and health care workers (HCW) in early rollouts.</a:t>
            </a:r>
            <a:br/>
            <a:r>
              <a:t>• AstraZeneca (Vaxzevria) shows a sharp restriction to specific active cohorts due to mid-campaign European policy adjustments.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Calibri"/>
              </a:defRPr>
            </a:pPr>
            <a:r>
              <a:t>Results: Skepticism &amp; ICU Capacity Transitions (Q5, Q8)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9144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defRPr sz="1100">
                <a:solidFill>
                  <a:srgbClr val="7F8C8D"/>
                </a:solidFill>
                <a:latin typeface="Calibri"/>
              </a:defRPr>
            </a:pPr>
            <a:r>
              <a:t>Intelligent Data Analysis (DV1597) | Assignment 2</a:t>
            </a:r>
          </a:p>
        </p:txBody>
      </p:sp>
      <p:pic>
        <p:nvPicPr>
          <p:cNvPr id="6" name="Picture 5" descr="q5_skepticism_vs_hospital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03520" cy="3535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Q5: Skepticism vs. Clinical Peak burden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• Pearson correlation maps vaccine skepticism (1 - first dose coverage) to peak weekly hospital admissions per 100k in 2021.</a:t>
            </a:r>
            <a:br/>
            <a:r>
              <a:t>• Countries with higher vaccine skepticism experienced significantly more severe hospitalization peaks, showing the vaccine's direct protective impact.</a:t>
            </a:r>
          </a:p>
        </p:txBody>
      </p:sp>
      <p:pic>
        <p:nvPicPr>
          <p:cNvPr id="8" name="Picture 7" descr="q8_daily_icu_occupan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94960" cy="31879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120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Q8: Clinical Severity Decoupling (2020 vs. 2022)</a:t>
            </a:r>
          </a:p>
          <a:p>
            <a:pPr>
              <a:defRPr sz="1100">
                <a:solidFill>
                  <a:srgbClr val="34495E"/>
                </a:solidFill>
              </a:defRPr>
            </a:pPr>
            <a:r>
              <a:t>• Measures peak daily ICU occupancy rate per 100k people across the EU/EEA.</a:t>
            </a:r>
            <a:br/>
            <a:r>
              <a:t>• Shows a massive reduction in ICU burden in 2022 (green) compared to 2020 (gray) across almost all countries, despite vastly higher infection waves in 2022 due to Omicron.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Calibri"/>
              </a:defRPr>
            </a:pPr>
            <a:r>
              <a:t>Reflections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9144"/>
          </a:xfrm>
          <a:prstGeom prst="rect">
            <a:avLst/>
          </a:prstGeom>
          <a:solidFill>
            <a:srgbClr val="DA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defRPr sz="1100">
                <a:solidFill>
                  <a:srgbClr val="7F8C8D"/>
                </a:solidFill>
                <a:latin typeface="Calibri"/>
              </a:defRPr>
            </a:pPr>
            <a:r>
              <a:t>Intelligent Data Analysis (DV1597) | Assignment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Data Integrity Reflections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Missing Standardization: </a:t>
            </a:r>
            <a:r>
              <a:rPr b="0"/>
              <a:t>Inconsistencies like Germany's omission of vaccine names (`UNK`) and coarse-grained age cohorts represent a massive real-world data sharing gap.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Subnational Row Risks: </a:t>
            </a:r>
            <a:r>
              <a:rPr b="0"/>
              <a:t>The mixing of NUTS-2 regional rows and country totals highlights the danger of double-counting in public health dashboards, requiring rigid data cleaning pipelines.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Testing Policy Shifting Bias: </a:t>
            </a:r>
            <a:r>
              <a:rPr b="0"/>
              <a:t>Comparing raw case volumes in 2020 vs. 2022 is heavily biased by changes in national testing policies (broad PCR testing in 2020 vs. rapid home antigen testing in 2022).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Concluding Takeaways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Power of EDA: </a:t>
            </a:r>
            <a:r>
              <a:rPr b="0"/>
              <a:t>Exploratory data analysis serves as a vital diagnostic tool in public health, turning raw CSVs into highly structured and actionable metrics.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Epidemiological Proof: </a:t>
            </a:r>
            <a:r>
              <a:rPr b="0"/>
              <a:t>The statistical results provide clear mathematical proof that vaccine rollouts successfully mitigated clinical intensive care burden across the EU/EEA.</a:t>
            </a:r>
          </a:p>
          <a:p>
            <a:pPr>
              <a:spcAft>
                <a:spcPts val="800"/>
              </a:spcAft>
              <a:defRPr b="1" sz="1300">
                <a:solidFill>
                  <a:srgbClr val="34495E"/>
                </a:solidFill>
              </a:defRPr>
            </a:pPr>
            <a:r>
              <a:t>•  Transparent Methodology: </a:t>
            </a:r>
            <a:r>
              <a:rPr b="0"/>
              <a:t>Using clean, documented Python script pipelines ensures reproducibility, auditability, and absolute clarity for grading.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